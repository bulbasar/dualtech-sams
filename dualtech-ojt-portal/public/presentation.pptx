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Updates on IST Portalsand Proposed ID Printing System</a:t>
            </a:r>
          </a:p>
        </p:txBody>
      </p:sp>
      <p:sp>
        <p:nvSpPr>
          <p:cNvPr id="3" name="Subtitle 2"/>
          <p:cNvSpPr>
            <a:spLocks noGrp="1"/>
          </p:cNvSpPr>
          <p:nvPr>
            <p:ph type="subTitle" idx="1"/>
          </p:nvPr>
        </p:nvSpPr>
        <p:spPr/>
        <p:txBody>
          <a:bodyPr/>
          <a:lstStyle/>
          <a:p>
            <a:r>
              <a:t>A comprehensive update on the IST Portal ecosystem — covering the Trainee Portal, IC Portal, IC Management, Mentoring Portals, TSD Portal, and the proposed Student ID Card Printing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Trainee Portaltrainee.html</a:t>
            </a:r>
          </a:p>
        </p:txBody>
      </p:sp>
      <p:sp>
        <p:nvSpPr>
          <p:cNvPr id="3" name="Content Placeholder 2"/>
          <p:cNvSpPr>
            <a:spLocks noGrp="1"/>
          </p:cNvSpPr>
          <p:nvPr>
            <p:ph idx="1"/>
          </p:nvPr>
        </p:nvSpPr>
        <p:spPr/>
        <p:txBody>
          <a:bodyPr/>
          <a:lstStyle/>
          <a:p>
            <a:r>
              <a:t>Secure, multi-factor onboarding that verifies trainees against the official masterlist before account creation — with biometric enrollment, GPS-verified attendance, and schooling submissions. Portal Link: https://dualtech-ojt-portal.web.app/trainee Updates: 631 registered trainees, 65 partner companies. Created GC to address rollout and implementation concerns.</a:t>
            </a:r>
          </a:p>
          <a:p>
            <a:pPr lvl="1"/>
            <a:r>
              <a:t>Masterlist Verification</a:t>
            </a:r>
          </a:p>
          <a:p>
            <a:pPr lvl="2"/>
            <a:r>
              <a:t>Trainees search by Student ID. Only records marked "Active", "Completed IPT", or "Post-BSTP" in the Firestore masterlist can register. Duplicate registration is automatically blocked.</a:t>
            </a:r>
          </a:p>
          <a:p>
            <a:pPr lvl="1"/>
            <a:r>
              <a:t>Biometric Login (WebAuthn)</a:t>
            </a:r>
          </a:p>
          <a:p>
            <a:pPr lvl="2"/>
            <a:r>
              <a:t>Fingerprint / FaceID setup during registration using the WebAuthn API. Stored credentials enable 1-tap sign-in on mobile devices — no passwords needed for daily use.</a:t>
            </a:r>
          </a:p>
          <a:p>
            <a:pPr lvl="1"/>
            <a:r>
              <a:t>Geofenced Clock-In/Out</a:t>
            </a:r>
          </a:p>
          <a:p>
            <a:pPr lvl="2"/>
            <a:r>
              <a:t>Uses the Haversine formula to calculate distance between the trainee's GPS coordinates and the assigned company location. Clock-in is only permitted within the allowed proximity radius. Full attendance history with hours tracking.</a:t>
            </a:r>
          </a:p>
          <a:p>
            <a:pPr lvl="1"/>
            <a:r>
              <a:t>QR Schooling &amp; Online Submissions</a:t>
            </a:r>
          </a:p>
          <a:p>
            <a:pPr lvl="2"/>
            <a:r>
              <a:t>Dual-mode schooling attendance: QR-based scanning for on-site meetings and form-based uploads for online assignments (VFL, LSCE, DR Entry). Weighted meeting credits for PDS and Retreats.</a:t>
            </a:r>
          </a:p>
          <a:p>
            <a:pPr lvl="1"/>
            <a:r>
              <a:t>Diligence Report &amp; Profile</a:t>
            </a:r>
          </a:p>
          <a:p>
            <a:pPr lvl="2"/>
            <a:r>
              <a:t>Tracks and displays a trainee's diligence score, attendance rate, and training performance metrics. Profile management with contact info, emergency contacts, and password/security settings. PWA-enabled with offline persistence.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IC Portalic-portal.html</a:t>
            </a:r>
          </a:p>
        </p:txBody>
      </p:sp>
      <p:sp>
        <p:nvSpPr>
          <p:cNvPr id="3" name="Content Placeholder 2"/>
          <p:cNvSpPr>
            <a:spLocks noGrp="1"/>
          </p:cNvSpPr>
          <p:nvPr>
            <p:ph idx="1"/>
          </p:nvPr>
        </p:nvSpPr>
        <p:spPr/>
        <p:txBody>
          <a:bodyPr/>
          <a:lstStyle/>
          <a:p>
            <a:r>
              <a:t>A comprehensive workspace for Industrial Coordinators — with 11 dedicated tabs covering everything from trainee oversight, attendance monitoring, messaging, to company visit tracking.</a:t>
            </a:r>
          </a:p>
          <a:p>
            <a:pPr lvl="1"/>
            <a:r>
              <a:t>Dashboard &amp; KPI Overview</a:t>
            </a:r>
          </a:p>
          <a:p>
            <a:pPr lvl="2"/>
            <a:r>
              <a:t>Summary KPI cards showing total assigned trainees, active/inactive counts, and pending actions. Quick-access navigation to all 11 tabs including Messages, Trainees, Companies, and Requests.</a:t>
            </a:r>
          </a:p>
          <a:p>
            <a:pPr lvl="1"/>
            <a:r>
              <a:t>My Trainees (List + Detail)</a:t>
            </a:r>
          </a:p>
          <a:p>
            <a:pPr lvl="2"/>
            <a:r>
              <a:t>Filterable trainee list with status badges and company info. Click to open deep-dive profile showing IPT details, day-by-day attendance log, rendered hours (target: 3,168 hrs), absences, lates, and training history timeline. PDF export per trainee.</a:t>
            </a:r>
          </a:p>
          <a:p>
            <a:pPr lvl="1"/>
            <a:r>
              <a:t>Attendance + Holiday Logic</a:t>
            </a:r>
          </a:p>
          <a:p>
            <a:pPr lvl="2"/>
            <a:r>
              <a:t>Per-trainee attendance records with time-in/out and automated hours calculation. Fetches global holidays and per-company settings for accurate absence vs. holiday classification. Configurable break deductions. CSV export with date range filtering.</a:t>
            </a:r>
          </a:p>
          <a:p>
            <a:pPr lvl="1"/>
            <a:r>
              <a:t>Messages, Notes &amp; Activities</a:t>
            </a:r>
          </a:p>
          <a:p>
            <a:pPr lvl="2"/>
            <a:r>
              <a:t>Built-in messaging system with unread count badges. View organizational announcements from TSD. Log trainees met with timestamps. Manage assigned partner companies with location data. Coordinator notes with categories (Warning, Progress Check, General).</a:t>
            </a:r>
          </a:p>
          <a:p>
            <a:pPr lvl="1"/>
            <a:r>
              <a:t>Requests, Disputes &amp; Settings</a:t>
            </a:r>
          </a:p>
          <a:p>
            <a:pPr lvl="2"/>
            <a:r>
              <a:t>Handle trainee attendance disputes and requests with an approval/denial workflow. IC settings tab for profile updates, credentials, and notifications. React ErrorBoundary provides crash recovery.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IC Managementic-management.html</a:t>
            </a:r>
          </a:p>
        </p:txBody>
      </p:sp>
      <p:sp>
        <p:nvSpPr>
          <p:cNvPr id="3" name="Content Placeholder 2"/>
          <p:cNvSpPr>
            <a:spLocks noGrp="1"/>
          </p:cNvSpPr>
          <p:nvPr>
            <p:ph idx="1"/>
          </p:nvPr>
        </p:nvSpPr>
        <p:spPr/>
        <p:txBody>
          <a:bodyPr/>
          <a:lstStyle/>
          <a:p>
            <a:r>
              <a:t>A centralized management dashboard for overseeing all Industrial Coordinators, partner companies, and global engagement metrics across the entire IST program.</a:t>
            </a:r>
          </a:p>
          <a:p>
            <a:pPr lvl="1"/>
            <a:r>
              <a:t>All Companies Directory</a:t>
            </a:r>
          </a:p>
          <a:p>
            <a:pPr lvl="2"/>
            <a:r>
              <a:t>Real-time aggregated view of all partner companies with trainee counts by status (Active, LOA, Dropped, Floater). Collapsible active/inactive company lists. Global search across company names.</a:t>
            </a:r>
          </a:p>
          <a:p>
            <a:pPr lvl="1"/>
            <a:r>
              <a:t>Company Profiles &amp; Analytics</a:t>
            </a:r>
          </a:p>
          <a:p>
            <a:pPr lvl="2"/>
            <a:r>
              <a:t>Per-company profiles with MOA status, HR contacts, assigned ICs, and multiple office addresses with geolocation. Track IC visit history with date-range filtering (Daily, Weekly, Monthly, Quarterly, Semestral, Yearly).</a:t>
            </a:r>
          </a:p>
          <a:p>
            <a:pPr lvl="1"/>
            <a:r>
              <a:t>Geofence &amp; Contact Management</a:t>
            </a:r>
          </a:p>
          <a:p>
            <a:pPr lvl="2"/>
            <a:r>
              <a:t>Manage GPS geofences per company with configurable latitude, longitude, and radius. Maintain a directory of company contacts with name, email, designation, and phone. All data syncs in real-time via Firestore.</a:t>
            </a:r>
          </a:p>
          <a:p>
            <a:pPr lvl="1"/>
            <a:r>
              <a:t>Concerns &amp; Issues Tracker</a:t>
            </a:r>
          </a:p>
          <a:p>
            <a:pPr lvl="2"/>
            <a:r>
              <a:t>Per-company concerns/issues tracker with Open/Resolved filtering. Log concerns with timestamps and resolve them with IC attribution. Full history trail for accountability and compliance reporting.</a:t>
            </a:r>
          </a:p>
          <a:p>
            <a:pPr lvl="1"/>
            <a:r>
              <a:t>Configurable Export &amp; Reports</a:t>
            </a:r>
          </a:p>
          <a:p>
            <a:pPr lvl="2"/>
            <a:r>
              <a:t>Export company data with configurable sections — select Overview, Contacts, Trainees, and/or Visits. Date-range filtering for visit exports. Firebase Auth with persistent local cache for offline resilience.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Mentoring Portalsmentoring.html · schooling.html</a:t>
            </a:r>
          </a:p>
        </p:txBody>
      </p:sp>
      <p:sp>
        <p:nvSpPr>
          <p:cNvPr id="3" name="Content Placeholder 2"/>
          <p:cNvSpPr>
            <a:spLocks noGrp="1"/>
          </p:cNvSpPr>
          <p:nvPr>
            <p:ph idx="1"/>
          </p:nvPr>
        </p:nvSpPr>
        <p:spPr/>
        <p:txBody>
          <a:bodyPr/>
          <a:lstStyle/>
          <a:p>
            <a:r>
              <a:t>Two interconnected portals for managing online schooling and mentoring activities. Mentoring Manager/Admin: https://dualtech-ojt-portal.web.app/mentoring Mentors' Portal: https://dualtech-ojt-portal.web.app/schooling</a:t>
            </a:r>
          </a:p>
          <a:p>
            <a:pPr lvl="1"/>
            <a:r>
              <a:t>Problem Statement</a:t>
            </a:r>
          </a:p>
          <a:p>
            <a:pPr lvl="2"/>
            <a:r>
              <a:t>Unreliable QR Data: Current QR code data is sometimes unreliable because mentors forget to scan, students lack issued codes, or phone data is unavailable. Bulk Submissions: Trainees often exploit the current system by submitting several weeks' worth of activities in a single day, despite the presence of timestamps.</a:t>
            </a:r>
          </a:p>
          <a:p>
            <a:pPr lvl="1"/>
            <a:r>
              <a:t>Proposed Solution</a:t>
            </a:r>
          </a:p>
          <a:p>
            <a:pPr lvl="2"/>
            <a:r>
              <a:t>Submissions will be done in the trainee's portal. The Mentoring Manager/Administrator (mentoring.html) will set activities for online schooling with automated deadlines, preventing one-time bulk submissions. QR scanning will be done by trainees scanning the mentor's QR — reversing the current flow for better reliability.</a:t>
            </a:r>
          </a:p>
          <a:p>
            <a:pPr lvl="1"/>
            <a:r>
              <a:t>Admin Dashboard (mentoring.html)</a:t>
            </a:r>
          </a:p>
          <a:p>
            <a:pPr lvl="2"/>
            <a:r>
              <a:t>Live KPI cards showing Active Trainees, Registered Mentors, and Available Venues. Interactive calendar for scheduling sessions. Mentor &amp; venue management via Firebase Auth. Schooling assignment with bulk operations. Online submission review (VFL, LSCE, DR Entry). PDS &amp; Retreat activity logs.</a:t>
            </a:r>
          </a:p>
          <a:p>
            <a:pPr lvl="1"/>
            <a:r>
              <a:t>Mentor Portal (schooling.html)</a:t>
            </a:r>
          </a:p>
          <a:p>
            <a:pPr lvl="2"/>
            <a:r>
              <a:t>Dedicated interface for mentors to manage their assigned trainees, view schedules, generate QR codes for trainee scanning, and track per-trainee schooling compliance across 18 training months with weighted activity credits. CSV export and bulk import via PapaParse.</a:t>
            </a:r>
          </a:p>
          <a:p>
            <a:pPr lvl="1"/>
            <a:r>
              <a:t>Implementation Timeline</a:t>
            </a:r>
          </a:p>
          <a:p>
            <a:pPr lvl="2"/>
            <a:r>
              <a:t>August 1, 2026 — Target launch date for online schooling activities with automated deadline enforcement through the trainee portal.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TSD Portaltsdportal.html</a:t>
            </a:r>
          </a:p>
        </p:txBody>
      </p:sp>
      <p:sp>
        <p:nvSpPr>
          <p:cNvPr id="3" name="Content Placeholder 2"/>
          <p:cNvSpPr>
            <a:spLocks noGrp="1"/>
          </p:cNvSpPr>
          <p:nvPr>
            <p:ph idx="1"/>
          </p:nvPr>
        </p:nvSpPr>
        <p:spPr/>
        <p:txBody>
          <a:bodyPr/>
          <a:lstStyle/>
          <a:p>
            <a:r>
              <a:t>The organization-wide administrative dashboard providing visibility into trainee performance, company engagement, surveys, concerns, and announcements. Portal Link: https://dualtech-ojt-portal.web.app/tsdportal</a:t>
            </a:r>
          </a:p>
          <a:p>
            <a:pPr lvl="1"/>
            <a:r>
              <a:t>ASTP Performance Dashboard</a:t>
            </a:r>
          </a:p>
          <a:p>
            <a:pPr lvl="2"/>
            <a:r>
              <a:t>Global trainee database with sortable columns (ID, Name, Company, IC, IPT dates, registration status). KPI cards show Total Registered, Active Partner Companies, Active/LOA/Dropped counts. One-click CSV export for offline reporting.</a:t>
            </a:r>
          </a:p>
          <a:p>
            <a:pPr lvl="1"/>
            <a:r>
              <a:t>Deployment Tracker</a:t>
            </a:r>
          </a:p>
          <a:p>
            <a:pPr lvl="2"/>
            <a:r>
              <a:t>Shows portal adoption rate: how many active trainees have registered accounts vs. pending setup. Filterable toggle between "All Active" and "Registered Only" views.</a:t>
            </a:r>
          </a:p>
          <a:p>
            <a:pPr lvl="1"/>
            <a:r>
              <a:t>Company Engagement Analytics</a:t>
            </a:r>
          </a:p>
          <a:p>
            <a:pPr lvl="2"/>
            <a:r>
              <a:t>Filter visits by year, month, and specific IC. View per-company breakdown of IC visit frequency, active trainee counts, and engagement metrics with date-aware parsing.</a:t>
            </a:r>
          </a:p>
          <a:p>
            <a:pPr lvl="1"/>
            <a:r>
              <a:t>Surveys, Concerns &amp; Announcements</a:t>
            </a:r>
          </a:p>
          <a:p>
            <a:pPr lvl="2"/>
            <a:r>
              <a:t>Create and distribute surveys, view submissions. Concerns inbox with image previews and reply capability. Broadcast announcements across all portals. OJT attendance monitoring with company-level drilldown.</a:t>
            </a:r>
          </a:p>
          <a:p>
            <a:pPr lvl="1"/>
            <a:r>
              <a:t>Recharts Visualizations</a:t>
            </a:r>
          </a:p>
          <a:p>
            <a:pPr lvl="2"/>
            <a:r>
              <a:t>Bar charts and pie charts powered by Recharts for visual breakdown of status distributions, engagement trends, and IC performance comparisons. Full dark mode support with smooth theme transitions.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ID PrintingSystem Portal</a:t>
            </a:r>
          </a:p>
        </p:txBody>
      </p:sp>
      <p:sp>
        <p:nvSpPr>
          <p:cNvPr id="3" name="Content Placeholder 2"/>
          <p:cNvSpPr>
            <a:spLocks noGrp="1"/>
          </p:cNvSpPr>
          <p:nvPr>
            <p:ph idx="1"/>
          </p:nvPr>
        </p:nvSpPr>
        <p:spPr/>
        <p:txBody>
          <a:bodyPr/>
          <a:lstStyle/>
          <a:p>
            <a:r>
              <a:t>Portal Link: https://dualtech-ojt-portal.web.app/idprinting</a:t>
            </a:r>
          </a:p>
          <a:p>
            <a:pPr lvl="1"/>
            <a:r>
              <a:t>Problem Statement</a:t>
            </a:r>
          </a:p>
          <a:p>
            <a:pPr lvl="2"/>
            <a:r>
              <a:t>Current set-up takes 2 to 3 weeks to print ID, with 3 to 5 days of manual checking and verification prior to the meeting. Reference: Minutes Meeting: II. Identified Concerns &amp; Bottlenecks</a:t>
            </a:r>
          </a:p>
          <a:p>
            <a:pPr lvl="1"/>
            <a:r>
              <a:t>Proposed Solution</a:t>
            </a:r>
          </a:p>
          <a:p>
            <a:pPr lvl="2"/>
            <a:r>
              <a:t>Revised ID Printing System Interface — a fully digital workflow with live PVC card preview, batch processing, signature capture, QR codes, and direct email delivery to eliminate manual bottlenecks.</a:t>
            </a:r>
          </a:p>
          <a:p>
            <a:pPr lvl="1"/>
            <a:r>
              <a:t>Implementation Timeline</a:t>
            </a:r>
          </a:p>
          <a:p>
            <a:pPr lvl="2"/>
            <a:r>
              <a:t>W1 August 2026 — For Approval by ETDC, LMC, and RVSA.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Student ID CardPrinting System</a:t>
            </a:r>
          </a:p>
        </p:txBody>
      </p:sp>
      <p:sp>
        <p:nvSpPr>
          <p:cNvPr id="3" name="Content Placeholder 2"/>
          <p:cNvSpPr>
            <a:spLocks noGrp="1"/>
          </p:cNvSpPr>
          <p:nvPr>
            <p:ph idx="1"/>
          </p:nvPr>
        </p:nvSpPr>
        <p:spPr/>
        <p:txBody>
          <a:bodyPr/>
          <a:lstStyle/>
          <a:p>
            <a:r>
              <a:t>A specialized registrar tool for designing, printing, and batch-managing PVC student ID cards with live preview, signature capture, QR codes, and email delivery.</a:t>
            </a:r>
          </a:p>
          <a:p>
            <a:pPr lvl="1"/>
            <a:r>
              <a:t>Live ID Card Preview</a:t>
            </a:r>
          </a:p>
          <a:p>
            <a:pPr lvl="2"/>
            <a:r>
              <a:t>PVC-accurate 2.125" × 3.375" live preview showing both front (photo, nickname, full name, student #) and back (QR code, address, contacts, validity year). All fields update in real-time as you type.</a:t>
            </a:r>
          </a:p>
          <a:p>
            <a:pPr lvl="1"/>
            <a:r>
              <a:t>Signature Pad &amp; Photo Upload</a:t>
            </a:r>
          </a:p>
          <a:p>
            <a:pPr lvl="2"/>
            <a:r>
              <a:t>HTML5 Canvas-based signature pad supporting mouse and touch input. ID photo upload with circular crop. Both appear on the front card in real-time. Auto-calculated validity (enrollment + 2 years) with manual override.</a:t>
            </a:r>
          </a:p>
          <a:p>
            <a:pPr lvl="1"/>
            <a:r>
              <a:t>Direct PVC Printing</a:t>
            </a:r>
          </a:p>
          <a:p>
            <a:pPr lvl="2"/>
            <a:r>
              <a:t>Print-optimized CSS with exact PVC card dimensions, zero margins, and automatic page breaks per card face. Each front and back prints on its own page at full bleed.</a:t>
            </a:r>
          </a:p>
          <a:p>
            <a:pPr lvl="1"/>
            <a:r>
              <a:t>Batch Processing</a:t>
            </a:r>
          </a:p>
          <a:p>
            <a:pPr lvl="2"/>
            <a:r>
              <a:t>Load all student records from Google Sheets. Select individuals via checkboxes, toggle preview, then batch print, batch export to PDF, or batch email — all in one workflow.</a:t>
            </a:r>
          </a:p>
          <a:p>
            <a:pPr lvl="1"/>
            <a:r>
              <a:t>Email ID Cards (PDF)</a:t>
            </a:r>
          </a:p>
          <a:p>
            <a:pPr lvl="2"/>
            <a:r>
              <a:t>Generate high-resolution PDF (6× scale) → encode as Base64 → send directly to student email via Google Apps Script backend. Supports single and batch email delivery with progress tracking.</a:t>
            </a:r>
          </a:p>
          <a:p>
            <a:pPr lvl="1"/>
            <a:r>
              <a:t>Search, Update &amp; Delete (CRUD)</a:t>
            </a:r>
          </a:p>
          <a:p>
            <a:pPr lvl="2"/>
            <a:r>
              <a:t>Search existing records by Student ID or name via the Google Apps Script backend. Load into form for editing, then update or delete records. QR code on the back links to a verification endpoint.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The Dualtech OJT Portal system is a fully integrated, real-time platform digitizing the entire training lifecycle — ready for deployment and continuous improvement.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